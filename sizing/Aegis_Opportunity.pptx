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End Y1</c:v>
                  </c:pt>
                  <c:pt idx="1">
                    <c:v>End Y2</c:v>
                  </c:pt>
                  <c:pt idx="2">
                    <c:v>End Y3</c:v>
                  </c:pt>
                  <c:pt idx="3">
                    <c:v>End Y4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1.2</c:v>
                </c:pt>
                <c:pt idx="2">
                  <c:v>3</c:v>
                </c:pt>
                <c:pt idx="3">
                  <c:v>5.5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686800" y="137160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 Account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 Layer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sizing and pricing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4389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that keeps ad accounts alive. Meta-first, read-only, built to sell.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852160"/>
            <a:ext cx="20116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name. Confidential.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Suspensions are frequent, costly, and opaque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93592" cy="338328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9631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33756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10M+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advertisers on Meta, most small businesses with no safety net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593592" cy="338328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2860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49631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33756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10-20%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4754880" y="4206240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Meta enforcement actions are errors, by Meta's own admission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29600" y="1874520"/>
            <a:ext cx="3593592" cy="338328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22860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49631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33756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8595360" y="4206240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appeal, a slow, opaque, largely bot-driven process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account goes down, spend stops and, for an agency, a client can be lost. That is the pain Aegis sells into.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sell survival, not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AEGIS 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before a flag becomes a suspension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account-health and risk monitoring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remediation when something is wrong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320040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ROAS or performance dashboard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 or bid optimization tool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me-too entry in a commoditized category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the threat, not a free competitor. That gap is structural and permanent, which is what makes the wedge defensible.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segments, one wedge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365760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DDE3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8716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745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and small businesses, 1 to 3 accounts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by count, lowest value, highest churn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from the same funnel, but not optimized for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349240" cy="3657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920240"/>
            <a:ext cx="91440" cy="3657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2860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688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58952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WEDGE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75120" y="342900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many client accounts; a ban is a lost client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willingness to pay, lower churn, sticky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by adding accounts, which drives NRR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large; size is not the constraint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229600" cy="105156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$B / year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0" y="20116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Meta, Google, and TikTok advertisers who could pay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6035040" cy="1051560"/>
          </a:xfrm>
          <a:prstGeom prst="rect">
            <a:avLst/>
          </a:prstGeom>
          <a:solidFill>
            <a:srgbClr val="2A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2918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32918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$250M - $400M / year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32918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 agencies running paid media, plus serious solos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3840480" cy="10515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5720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45720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~$3M ARR by Year 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45720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Realistically capturable in the flip window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 is a fraction of one percent of the reachable base. Distribution and retention decide the outcome, not market size.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Agencies are the wedge, by the numbers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46120"/>
                <a:gridCol w="3246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per customer (ACV)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~$430 / yr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~$2,900 / yr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Willingness to pay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(a ban is a lost client)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Lower, sticky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 / NRR potential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(add client accounts)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agencies. Serve solos because they fall out of the same funnel, but never optimize for them.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against the cost of a prevented suspension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103120" cy="274320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85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account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50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audit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16352" y="2057400"/>
            <a:ext cx="2103120" cy="274320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53512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53512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9232" y="3685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99232" y="4050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+ email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84064" y="1892808"/>
            <a:ext cx="2103120" cy="3072384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66944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21224" y="25786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221224" y="3191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66944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66944" y="3886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multi-account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51776" y="2057400"/>
            <a:ext cx="2103120" cy="274320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88936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88936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34656" y="3685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34656" y="4050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white-label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19488" y="2057400"/>
            <a:ext cx="2103120" cy="2743200"/>
          </a:xfrm>
          <a:prstGeom prst="rect">
            <a:avLst/>
          </a:prstGeom>
          <a:solidFill>
            <a:srgbClr val="F1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02368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56648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756648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02368" y="3685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02368" y="4050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holding cos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FCEFD6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5349240"/>
            <a:ext cx="91440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prevented churned client pays for years of subscription. 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account count, which makes expansion the default growth path and pushes NRR above 100%.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a three-to-four year flip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94560"/>
            <a:ext cx="384048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MATH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3 - 5x ARR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04672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 $9M - $15M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4:  $16.5M - $27.5M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4800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sale while growth is still steep, near $3M ARR.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0350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Bootstrapped, founder-light, ~90% gross margin. Blended ARPA $150/mo, agency-weighted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constraint is execution, not market size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0.2%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645920" y="411480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3 revenue target represents under two-tenths of one percent of the reachable market.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493776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need to win the market. There is a need to execute distribution and retention well.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9326880" y="420624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opportunity, in one line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defensible, founder-light wedge into a large market, with a clear path to a $10M-plus exit, gated by two cheap experiments.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786384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3977640"/>
            <a:ext cx="91440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 SPEND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4572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Meta grant the scopes?  (App Review)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 suspensions have early signals?  (the premise)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validation versus a year building on a false premise.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Opportunity Sizing</dc:title>
  <dc:subject>PptxGenJS Presentation</dc:subject>
  <dc:creator>Malhotra Consultants LLC</dc:creator>
  <cp:lastModifiedBy>Malhotra Consultants LLC</cp:lastModifiedBy>
  <cp:revision>1</cp:revision>
  <dcterms:created xsi:type="dcterms:W3CDTF">2026-06-08T19:58:41Z</dcterms:created>
  <dcterms:modified xsi:type="dcterms:W3CDTF">2026-06-08T19:58:41Z</dcterms:modified>
</cp:coreProperties>
</file>